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300" autoAdjust="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1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0" y="1417320"/>
            <a:ext cx="5074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97764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97764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ログインIDとパスワードを入力してください。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77640" y="260604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ログインID *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825496"/>
            <a:ext cx="4251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123456789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77640" y="349300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パスワード *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3712464"/>
            <a:ext cx="4251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••••••••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4572000"/>
            <a:ext cx="4251960" cy="47548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128名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508760"/>
            <a:ext cx="22402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8部門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508760"/>
            <a:ext cx="2423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最終更新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クイック操作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57400" y="3154680"/>
            <a:ext cx="2377440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社員を登録する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154680"/>
            <a:ext cx="237744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社員一覧を見る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0920" y="3154680"/>
            <a:ext cx="237744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部門を登録する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最近の更新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57400" y="4526280"/>
            <a:ext cx="109728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54680" y="4526280"/>
            <a:ext cx="45720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4526280"/>
            <a:ext cx="18288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493776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14:10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54680" y="4937760"/>
            <a:ext cx="457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 E003 を更新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26680" y="493776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太郎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7400" y="5349240"/>
            <a:ext cx="109728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10:32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54680" y="5349240"/>
            <a:ext cx="4572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部門「総務部」を登録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26680" y="5349240"/>
            <a:ext cx="18288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57400" y="576072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09:15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54680" y="5760720"/>
            <a:ext cx="4572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 E128 を登録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26680" y="57607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1636776"/>
            <a:ext cx="1325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E001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1417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1636776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Yu Gothic"/>
              </a:rPr>
              <a:t>小栗</a:t>
            </a:r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636776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 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60920" y="1636776"/>
            <a:ext cx="777240" cy="4114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1636776"/>
            <a:ext cx="8229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クリア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1636776"/>
            <a:ext cx="123444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社員登録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57400" y="2514600"/>
            <a:ext cx="91440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71800" y="2514600"/>
            <a:ext cx="114300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514600"/>
            <a:ext cx="91440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514600"/>
            <a:ext cx="187452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100584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2514600"/>
            <a:ext cx="100584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15400" y="2514600"/>
            <a:ext cx="1508760" cy="42976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57400" y="2944368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71800" y="2944368"/>
            <a:ext cx="1143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小栗 旬</a:t>
            </a:r>
          </a:p>
        </p:txBody>
      </p:sp>
      <p:sp>
        <p:nvSpPr>
          <p:cNvPr id="28" name="Text 26"/>
          <p:cNvSpPr/>
          <p:nvPr/>
        </p:nvSpPr>
        <p:spPr>
          <a:xfrm>
            <a:off x="4114800" y="2944368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人事部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944368"/>
            <a:ext cx="1874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oguri@example.com</a:t>
            </a:r>
          </a:p>
        </p:txBody>
      </p:sp>
      <p:sp>
        <p:nvSpPr>
          <p:cNvPr id="30" name="Text 28"/>
          <p:cNvSpPr/>
          <p:nvPr/>
        </p:nvSpPr>
        <p:spPr>
          <a:xfrm>
            <a:off x="6903720" y="2944368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2020/04/01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2944368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3374136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971800" y="3374136"/>
            <a:ext cx="11430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新垣 結衣</a:t>
            </a:r>
          </a:p>
        </p:txBody>
      </p:sp>
      <p:sp>
        <p:nvSpPr>
          <p:cNvPr id="35" name="Text 33"/>
          <p:cNvSpPr/>
          <p:nvPr/>
        </p:nvSpPr>
        <p:spPr>
          <a:xfrm>
            <a:off x="4114800" y="3374136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374136"/>
            <a:ext cx="187452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aragaki@example.com</a:t>
            </a:r>
          </a:p>
        </p:txBody>
      </p:sp>
      <p:sp>
        <p:nvSpPr>
          <p:cNvPr id="37" name="Text 35"/>
          <p:cNvSpPr/>
          <p:nvPr/>
        </p:nvSpPr>
        <p:spPr>
          <a:xfrm>
            <a:off x="6903720" y="3374136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2021/07/15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909560" y="3374136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57400" y="3803904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E003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71800" y="3803904"/>
            <a:ext cx="1143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菅田 将暉</a:t>
            </a:r>
          </a:p>
        </p:txBody>
      </p:sp>
      <p:sp>
        <p:nvSpPr>
          <p:cNvPr id="42" name="Text 40"/>
          <p:cNvSpPr/>
          <p:nvPr/>
        </p:nvSpPr>
        <p:spPr>
          <a:xfrm>
            <a:off x="4114800" y="3803904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開発部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803904"/>
            <a:ext cx="1874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suda@example.com</a:t>
            </a:r>
          </a:p>
        </p:txBody>
      </p:sp>
      <p:sp>
        <p:nvSpPr>
          <p:cNvPr id="44" name="Text 42"/>
          <p:cNvSpPr/>
          <p:nvPr/>
        </p:nvSpPr>
        <p:spPr>
          <a:xfrm>
            <a:off x="6903720" y="3803904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2022/01/10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909560" y="3803904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057400" y="4233672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E004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971800" y="4233672"/>
            <a:ext cx="11430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浜辺 美波</a:t>
            </a:r>
          </a:p>
        </p:txBody>
      </p:sp>
      <p:sp>
        <p:nvSpPr>
          <p:cNvPr id="49" name="Text 47"/>
          <p:cNvSpPr/>
          <p:nvPr/>
        </p:nvSpPr>
        <p:spPr>
          <a:xfrm>
            <a:off x="4114800" y="4233672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総務部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0" y="4233672"/>
            <a:ext cx="187452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hamabe@example.com</a:t>
            </a:r>
          </a:p>
        </p:txBody>
      </p:sp>
      <p:sp>
        <p:nvSpPr>
          <p:cNvPr id="51" name="Text 49"/>
          <p:cNvSpPr/>
          <p:nvPr/>
        </p:nvSpPr>
        <p:spPr>
          <a:xfrm>
            <a:off x="6903720" y="4233672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2023/04/01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909560" y="4233672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057400" y="4663440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E005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971800" y="4663440"/>
            <a:ext cx="1143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佐藤 健</a:t>
            </a:r>
          </a:p>
        </p:txBody>
      </p:sp>
      <p:sp>
        <p:nvSpPr>
          <p:cNvPr id="56" name="Text 54"/>
          <p:cNvSpPr/>
          <p:nvPr/>
        </p:nvSpPr>
        <p:spPr>
          <a:xfrm>
            <a:off x="4114800" y="4663440"/>
            <a:ext cx="9144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人事部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0" y="4663440"/>
            <a:ext cx="1874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satoh@example.com</a:t>
            </a:r>
          </a:p>
        </p:txBody>
      </p:sp>
      <p:sp>
        <p:nvSpPr>
          <p:cNvPr id="58" name="Text 56"/>
          <p:cNvSpPr/>
          <p:nvPr/>
        </p:nvSpPr>
        <p:spPr>
          <a:xfrm>
            <a:off x="6903720" y="4663440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2024/04/01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909560" y="4663440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2026/05/16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057400" y="5093208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E006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971800" y="5093208"/>
            <a:ext cx="11430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長澤 まさみ</a:t>
            </a:r>
          </a:p>
        </p:txBody>
      </p:sp>
      <p:sp>
        <p:nvSpPr>
          <p:cNvPr id="63" name="Text 61"/>
          <p:cNvSpPr/>
          <p:nvPr/>
        </p:nvSpPr>
        <p:spPr>
          <a:xfrm>
            <a:off x="4114800" y="5093208"/>
            <a:ext cx="91440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0" y="5093208"/>
            <a:ext cx="187452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algn="l"/>
            <a:r>
              <a:rPr sz="1200" b="0">
                <a:solidFill>
                  <a:srgbClr val="1E1E1E"/>
                </a:solidFill>
                <a:latin typeface="Yu Gothic"/>
              </a:rPr>
              <a:t>nagasawa@example.com</a:t>
            </a:r>
          </a:p>
        </p:txBody>
      </p:sp>
      <p:sp>
        <p:nvSpPr>
          <p:cNvPr id="65" name="Text 63"/>
          <p:cNvSpPr/>
          <p:nvPr/>
        </p:nvSpPr>
        <p:spPr>
          <a:xfrm>
            <a:off x="6903720" y="5093208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2024/10/01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909560" y="5093208"/>
            <a:ext cx="1005840" cy="429768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2026/05/14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057400" y="5577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1 - 6件 / 128件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275320" y="5532120"/>
            <a:ext cx="731520" cy="32004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前へ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098280" y="5532120"/>
            <a:ext cx="320040" cy="32004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464040" y="5532120"/>
            <a:ext cx="320040" cy="32004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875520" y="5532120"/>
            <a:ext cx="731520" cy="32004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次へ</a:t>
            </a:r>
            <a:endParaRPr lang="en-US" sz="1600" dirty="0"/>
          </a:p>
        </p:txBody>
      </p:sp>
      <p:sp>
        <p:nvSpPr>
          <p:cNvPr id="73" name="Rounded Rectangle 72"/>
          <p:cNvSpPr/>
          <p:nvPr/>
        </p:nvSpPr>
        <p:spPr>
          <a:xfrm>
            <a:off x="8967400" y="3018368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42400" y="3018368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917400" y="3018368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7400" y="3448136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442400" y="3448136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17400" y="3448136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67400" y="3877904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442400" y="3877904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17400" y="3877904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67400" y="4307672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42400" y="4307672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17400" y="4307672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967400" y="4737440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442400" y="4737440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17400" y="4737440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67400" y="5167208"/>
            <a:ext cx="420000" cy="2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96A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詳細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442400" y="5167208"/>
            <a:ext cx="420000" cy="28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17400" y="5167208"/>
            <a:ext cx="420000" cy="28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 err="1">
                <a:latin typeface="Noto Sans CJK JP"/>
              </a:rPr>
              <a:t>社員詳細</a:t>
            </a:r>
            <a:endParaRPr sz="2200" dirty="0">
              <a:latin typeface="Noto Sans CJK JP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55778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965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600">
                <a:latin typeface="Noto Sans CJK JP"/>
              </a:rPr>
              <a:t>社員番号</a:t>
            </a:r>
          </a:p>
        </p:txBody>
      </p:sp>
      <p:sp>
        <p:nvSpPr>
          <p:cNvPr id="12" name="Text 10"/>
          <p:cNvSpPr/>
          <p:nvPr/>
        </p:nvSpPr>
        <p:spPr>
          <a:xfrm>
            <a:off x="2240280" y="2185416"/>
            <a:ext cx="2286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Yu Gothic"/>
              </a:rPr>
              <a:t>E001</a:t>
            </a:r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600">
                <a:latin typeface="Noto Sans CJK JP"/>
              </a:rPr>
              <a:t>社員名</a:t>
            </a:r>
          </a:p>
        </p:txBody>
      </p:sp>
      <p:sp>
        <p:nvSpPr>
          <p:cNvPr id="15" name="Text 13"/>
          <p:cNvSpPr/>
          <p:nvPr/>
        </p:nvSpPr>
        <p:spPr>
          <a:xfrm>
            <a:off x="4800600" y="2185416"/>
            <a:ext cx="24231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Yu Gothic"/>
              </a:rPr>
              <a:t>小栗 旬</a:t>
            </a:r>
          </a:p>
        </p:txBody>
      </p:sp>
      <p:sp>
        <p:nvSpPr>
          <p:cNvPr id="16" name="Text 14"/>
          <p:cNvSpPr/>
          <p:nvPr/>
        </p:nvSpPr>
        <p:spPr>
          <a:xfrm>
            <a:off x="2240280" y="29260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3145536"/>
            <a:ext cx="2286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Yu Gothic"/>
              </a:rPr>
              <a:t>oguri@example.com</a:t>
            </a:r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600">
                <a:latin typeface="Noto Sans CJK JP"/>
              </a:rPr>
              <a:t>入社日</a:t>
            </a:r>
          </a:p>
        </p:txBody>
      </p:sp>
      <p:sp>
        <p:nvSpPr>
          <p:cNvPr id="20" name="Text 18"/>
          <p:cNvSpPr/>
          <p:nvPr/>
        </p:nvSpPr>
        <p:spPr>
          <a:xfrm>
            <a:off x="4800600" y="3145536"/>
            <a:ext cx="24231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Noto Sans CJK JP"/>
              </a:rPr>
              <a:t>2020/04/01</a:t>
            </a:r>
          </a:p>
        </p:txBody>
      </p:sp>
      <p:sp>
        <p:nvSpPr>
          <p:cNvPr id="22" name="Text 20"/>
          <p:cNvSpPr/>
          <p:nvPr/>
        </p:nvSpPr>
        <p:spPr>
          <a:xfrm>
            <a:off x="2240280" y="3886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600">
                <a:latin typeface="Noto Sans CJK JP"/>
              </a:rPr>
              <a:t>部門</a:t>
            </a:r>
          </a:p>
        </p:txBody>
      </p:sp>
      <p:sp>
        <p:nvSpPr>
          <p:cNvPr id="23" name="Text 21"/>
          <p:cNvSpPr/>
          <p:nvPr/>
        </p:nvSpPr>
        <p:spPr>
          <a:xfrm>
            <a:off x="2240280" y="4105656"/>
            <a:ext cx="22860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Noto Sans CJK JP"/>
              </a:rPr>
              <a:t>人事部</a:t>
            </a:r>
          </a:p>
        </p:txBody>
      </p:sp>
      <p:sp>
        <p:nvSpPr>
          <p:cNvPr id="25" name="Text 23"/>
          <p:cNvSpPr/>
          <p:nvPr/>
        </p:nvSpPr>
        <p:spPr>
          <a:xfrm>
            <a:off x="7909560" y="1417320"/>
            <a:ext cx="26517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9560" y="1938528"/>
            <a:ext cx="9144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23960" y="1938528"/>
            <a:ext cx="17373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09560" y="235000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3960" y="235000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9560" y="276148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23960" y="276148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2026/05/21 09:30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9560" y="317296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9560" y="358444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23960" y="358444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 14:10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09560" y="5257800"/>
            <a:ext cx="11430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sz="1600">
                <a:solidFill>
                  <a:srgbClr val="333333"/>
                </a:solidFill>
                <a:latin typeface="Noto Sans CJK JP"/>
              </a:rPr>
              <a:t>社員一覧へ</a:t>
            </a:r>
          </a:p>
        </p:txBody>
      </p:sp>
      <p:sp>
        <p:nvSpPr>
          <p:cNvPr id="37" name="Text 35"/>
          <p:cNvSpPr/>
          <p:nvPr/>
        </p:nvSpPr>
        <p:spPr>
          <a:xfrm>
            <a:off x="9189720" y="5257800"/>
            <a:ext cx="105156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Noto Sans CJK JP"/>
              </a:rPr>
              <a:t>編集する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78440" y="5257800"/>
            <a:ext cx="1051560" cy="4572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Noto Sans CJK JP"/>
              </a:rPr>
              <a:t>削除する</a:t>
            </a:r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A4A4E5B4-0086-CFBD-FCC4-1A67C925A87E}"/>
              </a:ext>
            </a:extLst>
          </p:cNvPr>
          <p:cNvSpPr/>
          <p:nvPr/>
        </p:nvSpPr>
        <p:spPr>
          <a:xfrm>
            <a:off x="8823960" y="317296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社員登録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55778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965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18541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 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85416"/>
            <a:ext cx="2423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29260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314553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 *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145536"/>
            <a:ext cx="2423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40280" y="3886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 *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10565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選択してください 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09560" y="1417320"/>
            <a:ext cx="26517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9560" y="1938528"/>
            <a:ext cx="9144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23960" y="1938528"/>
            <a:ext cx="17373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09560" y="235000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3960" y="235000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9560" y="276148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23960" y="276148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9560" y="317296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23960" y="317296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9560" y="358444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23960" y="358444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09560" y="5257800"/>
            <a:ext cx="10972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89720" y="52578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社員更新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55778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965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18541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 dirty="0">
                <a:latin typeface="Yu Gothic"/>
              </a:rPr>
              <a:t>E001</a:t>
            </a:r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 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85416"/>
            <a:ext cx="2423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 dirty="0" err="1">
                <a:latin typeface="Yu Gothic"/>
              </a:rPr>
              <a:t>小栗</a:t>
            </a:r>
            <a:r>
              <a:rPr sz="1600" dirty="0">
                <a:latin typeface="Yu Gothic"/>
              </a:rPr>
              <a:t> 旬</a:t>
            </a:r>
          </a:p>
        </p:txBody>
      </p:sp>
      <p:sp>
        <p:nvSpPr>
          <p:cNvPr id="16" name="Text 14"/>
          <p:cNvSpPr/>
          <p:nvPr/>
        </p:nvSpPr>
        <p:spPr>
          <a:xfrm>
            <a:off x="2240280" y="29260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314553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 dirty="0">
                <a:latin typeface="Yu Gothic"/>
              </a:rPr>
              <a:t>oguri@example.com</a:t>
            </a:r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 *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145536"/>
            <a:ext cx="2423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2026/04/01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40280" y="3886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 *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105656"/>
            <a:ext cx="22860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 dirty="0" err="1">
                <a:latin typeface="Yu Gothic"/>
              </a:rPr>
              <a:t>人事部</a:t>
            </a:r>
            <a:r>
              <a:rPr sz="1600" dirty="0">
                <a:latin typeface="Yu Gothic"/>
              </a:rPr>
              <a:t> ▼</a:t>
            </a:r>
          </a:p>
        </p:txBody>
      </p:sp>
      <p:sp>
        <p:nvSpPr>
          <p:cNvPr id="25" name="Text 23"/>
          <p:cNvSpPr/>
          <p:nvPr/>
        </p:nvSpPr>
        <p:spPr>
          <a:xfrm>
            <a:off x="7909560" y="1417320"/>
            <a:ext cx="26517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9560" y="1938528"/>
            <a:ext cx="9144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23960" y="1938528"/>
            <a:ext cx="17373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09560" y="235000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3960" y="235000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9560" y="276148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23960" y="276148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2026/05/21 09:30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9560" y="317296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9560" y="358444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23960" y="358444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 14:10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09560" y="5257800"/>
            <a:ext cx="10972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89720" y="52578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5F51F68E-6AF0-30A8-93EC-10C363FBB135}"/>
              </a:ext>
            </a:extLst>
          </p:cNvPr>
          <p:cNvSpPr/>
          <p:nvPr/>
        </p:nvSpPr>
        <p:spPr>
          <a:xfrm>
            <a:off x="8823960" y="317296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社員削除確認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85496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削除対象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2057400"/>
            <a:ext cx="118872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2057400"/>
            <a:ext cx="15544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10972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057400"/>
            <a:ext cx="256032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128016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25146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E001</a:t>
            </a:r>
          </a:p>
        </p:txBody>
      </p:sp>
      <p:sp>
        <p:nvSpPr>
          <p:cNvPr id="17" name="Text 15"/>
          <p:cNvSpPr/>
          <p:nvPr/>
        </p:nvSpPr>
        <p:spPr>
          <a:xfrm>
            <a:off x="3246120" y="25146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小栗 旬</a:t>
            </a:r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人事部</a:t>
            </a:r>
          </a:p>
        </p:txBody>
      </p:sp>
      <p:sp>
        <p:nvSpPr>
          <p:cNvPr id="19" name="Text 17"/>
          <p:cNvSpPr/>
          <p:nvPr/>
        </p:nvSpPr>
        <p:spPr>
          <a:xfrm>
            <a:off x="5897880" y="251460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oguri@example.com</a:t>
            </a:r>
          </a:p>
        </p:txBody>
      </p:sp>
      <p:sp>
        <p:nvSpPr>
          <p:cNvPr id="20" name="Text 18"/>
          <p:cNvSpPr/>
          <p:nvPr/>
        </p:nvSpPr>
        <p:spPr>
          <a:xfrm>
            <a:off x="8458200" y="251460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2026/04/01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08960" y="3246120"/>
            <a:ext cx="6400800" cy="6858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18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この社員情報を削除します。よろしいですか？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443484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4434840"/>
            <a:ext cx="12801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削除する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1636776"/>
            <a:ext cx="1920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1636776"/>
            <a:ext cx="777240" cy="41148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636776"/>
            <a:ext cx="8229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クリア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35440" y="1636776"/>
            <a:ext cx="1371600" cy="41148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部門登録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2514600"/>
            <a:ext cx="64008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514600"/>
            <a:ext cx="164592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3400" y="251460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所属社員数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23560" y="2514600"/>
            <a:ext cx="146304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514600"/>
            <a:ext cx="146304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251460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301752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0175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人事部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3400" y="301752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30175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0175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57400" y="3520440"/>
            <a:ext cx="64008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97480" y="3520440"/>
            <a:ext cx="164592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営業部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43400" y="3520440"/>
            <a:ext cx="128016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43名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3560" y="3520440"/>
            <a:ext cx="146304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次郎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3520440"/>
            <a:ext cx="146304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057400" y="402336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97480" y="402336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開発部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43400" y="402336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51名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23560" y="402336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402336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057400" y="4526280"/>
            <a:ext cx="64008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697480" y="4526280"/>
            <a:ext cx="164592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総務部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43400" y="4526280"/>
            <a:ext cx="128016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23560" y="4526280"/>
            <a:ext cx="146304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次郎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86600" y="4526280"/>
            <a:ext cx="1463040" cy="50292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2026/05/17</a:t>
            </a:r>
            <a:endParaRPr lang="en-US" sz="1600" dirty="0"/>
          </a:p>
        </p:txBody>
      </p:sp>
      <p:sp>
        <p:nvSpPr>
          <p:cNvPr id="44" name="Rounded Rectangle 43"/>
          <p:cNvSpPr/>
          <p:nvPr/>
        </p:nvSpPr>
        <p:spPr>
          <a:xfrm>
            <a:off x="8639640" y="3117520"/>
            <a:ext cx="480000" cy="30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09640" y="3117520"/>
            <a:ext cx="480000" cy="30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39640" y="3620440"/>
            <a:ext cx="480000" cy="30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09640" y="3620440"/>
            <a:ext cx="480000" cy="30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39640" y="4123360"/>
            <a:ext cx="480000" cy="30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09640" y="4123360"/>
            <a:ext cx="480000" cy="30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39640" y="4626280"/>
            <a:ext cx="480000" cy="300000"/>
          </a:xfrm>
          <a:prstGeom prst="round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1E1E1E"/>
                </a:solidFill>
                <a:latin typeface="Yu Gothic"/>
              </a:rPr>
              <a:t>編集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09640" y="4626280"/>
            <a:ext cx="480000" cy="300000"/>
          </a:xfrm>
          <a:prstGeom prst="roundRect">
            <a:avLst/>
          </a:prstGeom>
          <a:solidFill>
            <a:srgbClr val="FFEFEF"/>
          </a:solidFill>
          <a:ln w="12700">
            <a:solidFill>
              <a:srgbClr val="D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0">
                <a:solidFill>
                  <a:srgbClr val="962828"/>
                </a:solidFill>
                <a:latin typeface="Yu Gothic"/>
              </a:rPr>
              <a:t>削除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部門登録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63040"/>
            <a:ext cx="457200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20574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276856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463040"/>
            <a:ext cx="35661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965960"/>
            <a:ext cx="100584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1965960"/>
            <a:ext cx="256032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278892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278892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2004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320040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61188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361188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800600"/>
            <a:ext cx="11430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部門更新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463040"/>
            <a:ext cx="457200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20574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276856"/>
            <a:ext cx="3931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人事部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463040"/>
            <a:ext cx="35661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965960"/>
            <a:ext cx="100584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1965960"/>
            <a:ext cx="256032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278892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278892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2026/05/21 09:30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2004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320040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佐藤 次郎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61188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361188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 14:10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800600"/>
            <a:ext cx="11430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部門削除確認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965960"/>
            <a:ext cx="6400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82880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1965960"/>
            <a:ext cx="137160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所属社員数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1965960"/>
            <a:ext cx="15544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1965960"/>
            <a:ext cx="15544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2441448"/>
            <a:ext cx="640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44144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研修部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441448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7880" y="24414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24414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3246120"/>
            <a:ext cx="6400800" cy="685800"/>
          </a:xfrm>
          <a:prstGeom prst="rect">
            <a:avLst/>
          </a:prstGeom>
          <a:solidFill>
            <a:srgbClr val="FCE4D6"/>
          </a:solidFill>
          <a:ln w="12700">
            <a:solidFill>
              <a:srgbClr val="F4B183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この部門を削除します。よろしいですか？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443484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4434840"/>
            <a:ext cx="12801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削除する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0" y="1417320"/>
            <a:ext cx="5074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97764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97764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ログインIDとパスワードを入力してください。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77640" y="2606040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ログインID *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2825496"/>
            <a:ext cx="425196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123456789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77640" y="349300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パスワード *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3712464"/>
            <a:ext cx="425196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••••••••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77640" y="4572000"/>
            <a:ext cx="4251960" cy="47548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ログインする</a:t>
            </a:r>
            <a:endParaRPr lang="en-U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3969867" y="4211040"/>
            <a:ext cx="4251960" cy="30000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tIns="45000" rIns="110000" bIns="45000" rtlCol="0" anchor="ctr"/>
          <a:lstStyle/>
          <a:p>
            <a:pPr algn="l"/>
            <a:r>
              <a:rPr sz="1000" b="1" dirty="0" err="1">
                <a:solidFill>
                  <a:srgbClr val="B42828"/>
                </a:solidFill>
                <a:latin typeface="Yu Gothic"/>
              </a:rPr>
              <a:t>ログインに失敗しました</a:t>
            </a:r>
            <a:r>
              <a:rPr sz="1000" b="1" dirty="0">
                <a:solidFill>
                  <a:srgbClr val="B42828"/>
                </a:solidFill>
                <a:latin typeface="Yu Gothic"/>
              </a:rPr>
              <a:t>。</a:t>
            </a:r>
          </a:p>
          <a:p>
            <a:pPr algn="l"/>
            <a:r>
              <a:rPr sz="1000" b="0" dirty="0" err="1">
                <a:solidFill>
                  <a:srgbClr val="3C3C3C"/>
                </a:solidFill>
                <a:latin typeface="Yu Gothic"/>
              </a:rPr>
              <a:t>ログインIDまたはパスワードが正しくありません</a:t>
            </a:r>
            <a:r>
              <a:rPr sz="1000" b="0" dirty="0">
                <a:solidFill>
                  <a:srgbClr val="3C3C3C"/>
                </a:solidFill>
                <a:latin typeface="Yu Gothic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 err="1">
                <a:latin typeface="Yu Gothic"/>
              </a:rPr>
              <a:t>社員登録（入力エラ</a:t>
            </a:r>
            <a:r>
              <a:rPr sz="2200" dirty="0">
                <a:latin typeface="Yu Gothic"/>
              </a:rPr>
              <a:t>ー）</a:t>
            </a:r>
          </a:p>
        </p:txBody>
      </p:sp>
      <p:sp>
        <p:nvSpPr>
          <p:cNvPr id="10" name="Text 8"/>
          <p:cNvSpPr/>
          <p:nvPr/>
        </p:nvSpPr>
        <p:spPr>
          <a:xfrm>
            <a:off x="2057400" y="1417320"/>
            <a:ext cx="55778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9659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185416"/>
            <a:ext cx="228600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 *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185416"/>
            <a:ext cx="242316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29260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0280" y="3145536"/>
            <a:ext cx="228600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r>
              <a:rPr sz="1600">
                <a:latin typeface="Yu Gothic"/>
              </a:rPr>
              <a:t>sample-mail</a:t>
            </a:r>
          </a:p>
        </p:txBody>
      </p:sp>
      <p:sp>
        <p:nvSpPr>
          <p:cNvPr id="19" name="Text 17"/>
          <p:cNvSpPr/>
          <p:nvPr/>
        </p:nvSpPr>
        <p:spPr>
          <a:xfrm>
            <a:off x="4800600" y="29260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 *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3145536"/>
            <a:ext cx="242316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40280" y="388620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 *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105656"/>
            <a:ext cx="228600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選択してください 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09560" y="1417320"/>
            <a:ext cx="26517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09560" y="1938528"/>
            <a:ext cx="91440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23960" y="1938528"/>
            <a:ext cx="173736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09560" y="235000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3960" y="235000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9560" y="276148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23960" y="276148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9560" y="3172968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23960" y="3172968"/>
            <a:ext cx="1737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9560" y="3584448"/>
            <a:ext cx="91440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23960" y="3584448"/>
            <a:ext cx="173736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09560" y="5257800"/>
            <a:ext cx="10972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89720" y="52578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  <p:sp>
        <p:nvSpPr>
          <p:cNvPr id="38" name="Rounded Rectangle 37"/>
          <p:cNvSpPr/>
          <p:nvPr/>
        </p:nvSpPr>
        <p:spPr>
          <a:xfrm>
            <a:off x="2172201" y="5280660"/>
            <a:ext cx="5577840" cy="45720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tIns="45000" rIns="110000" bIns="45000" rtlCol="0" anchor="ctr"/>
          <a:lstStyle/>
          <a:p>
            <a:pPr algn="l"/>
            <a:r>
              <a:rPr sz="1200" b="1" dirty="0" err="1">
                <a:solidFill>
                  <a:srgbClr val="B42828"/>
                </a:solidFill>
                <a:latin typeface="Yu Gothic"/>
              </a:rPr>
              <a:t>入力内容に誤りがあります</a:t>
            </a:r>
            <a:r>
              <a:rPr sz="1200" b="1" dirty="0">
                <a:solidFill>
                  <a:srgbClr val="B42828"/>
                </a:solidFill>
                <a:latin typeface="Yu Gothic"/>
              </a:rPr>
              <a:t>。</a:t>
            </a:r>
          </a:p>
          <a:p>
            <a:pPr algn="l"/>
            <a:r>
              <a:rPr sz="1200" b="0" dirty="0" err="1">
                <a:solidFill>
                  <a:srgbClr val="3C3C3C"/>
                </a:solidFill>
                <a:latin typeface="Yu Gothic"/>
              </a:rPr>
              <a:t>赤字の項目を確認してください</a:t>
            </a:r>
            <a:r>
              <a:rPr sz="1200" b="0" dirty="0">
                <a:solidFill>
                  <a:srgbClr val="3C3C3C"/>
                </a:solidFill>
                <a:latin typeface="Yu Gothic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2618056"/>
            <a:ext cx="128240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dirty="0" err="1">
                <a:solidFill>
                  <a:srgbClr val="BE2828"/>
                </a:solidFill>
                <a:latin typeface="Yu Gothic"/>
              </a:rPr>
              <a:t>社員番号は必須です</a:t>
            </a:r>
            <a:r>
              <a:rPr sz="1000" dirty="0">
                <a:solidFill>
                  <a:srgbClr val="BE2828"/>
                </a:solidFill>
                <a:latin typeface="Yu Gothic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618056"/>
            <a:ext cx="115416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dirty="0" err="1">
                <a:solidFill>
                  <a:srgbClr val="BE2828"/>
                </a:solidFill>
                <a:latin typeface="Yu Gothic"/>
              </a:rPr>
              <a:t>社員名は必須です</a:t>
            </a:r>
            <a:r>
              <a:rPr sz="1000" dirty="0">
                <a:solidFill>
                  <a:srgbClr val="BE2828"/>
                </a:solidFill>
                <a:latin typeface="Yu Gothic"/>
              </a:rPr>
              <a:t>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3562667"/>
            <a:ext cx="259045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dirty="0" err="1">
                <a:solidFill>
                  <a:srgbClr val="BE2828"/>
                </a:solidFill>
                <a:latin typeface="Yu Gothic"/>
              </a:rPr>
              <a:t>メールアドレスの形式が正しくありません</a:t>
            </a:r>
            <a:r>
              <a:rPr sz="1200" dirty="0">
                <a:solidFill>
                  <a:srgbClr val="BE2828"/>
                </a:solidFill>
                <a:latin typeface="Yu Gothic"/>
              </a:rPr>
              <a:t>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578056"/>
            <a:ext cx="166712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dirty="0" err="1">
                <a:solidFill>
                  <a:srgbClr val="BE2828"/>
                </a:solidFill>
                <a:latin typeface="Yu Gothic"/>
              </a:rPr>
              <a:t>入社日を入力してください</a:t>
            </a:r>
            <a:r>
              <a:rPr sz="1000" dirty="0">
                <a:solidFill>
                  <a:srgbClr val="BE2828"/>
                </a:solidFill>
                <a:latin typeface="Yu Gothic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538056"/>
            <a:ext cx="153888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ja-JP" altLang="en-US" sz="1000" dirty="0">
                <a:solidFill>
                  <a:srgbClr val="BE2828"/>
                </a:solidFill>
                <a:latin typeface="Yu Gothic"/>
              </a:rPr>
              <a:t>部門を選択してください。</a:t>
            </a:r>
            <a:endParaRPr sz="1000" dirty="0">
              <a:solidFill>
                <a:srgbClr val="BE2828"/>
              </a:solidFill>
              <a:latin typeface="Yu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 err="1">
                <a:latin typeface="Yu Gothic"/>
              </a:rPr>
              <a:t>社員削除確認（警告表示</a:t>
            </a:r>
            <a:r>
              <a:rPr sz="2200" dirty="0">
                <a:latin typeface="Yu Gothic"/>
              </a:rPr>
              <a:t>）</a:t>
            </a:r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85496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削除対象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2057400"/>
            <a:ext cx="118872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社員番号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2057400"/>
            <a:ext cx="15544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057400"/>
            <a:ext cx="109728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97880" y="2057400"/>
            <a:ext cx="256032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メールアドレス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128016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入社日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57400" y="251460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E001</a:t>
            </a:r>
          </a:p>
        </p:txBody>
      </p:sp>
      <p:sp>
        <p:nvSpPr>
          <p:cNvPr id="17" name="Text 15"/>
          <p:cNvSpPr/>
          <p:nvPr/>
        </p:nvSpPr>
        <p:spPr>
          <a:xfrm>
            <a:off x="3246120" y="251460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小栗 旬</a:t>
            </a:r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人事部</a:t>
            </a:r>
          </a:p>
        </p:txBody>
      </p:sp>
      <p:sp>
        <p:nvSpPr>
          <p:cNvPr id="19" name="Text 17"/>
          <p:cNvSpPr/>
          <p:nvPr/>
        </p:nvSpPr>
        <p:spPr>
          <a:xfrm>
            <a:off x="5897880" y="2514600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oguri@example.com</a:t>
            </a:r>
          </a:p>
        </p:txBody>
      </p:sp>
      <p:sp>
        <p:nvSpPr>
          <p:cNvPr id="20" name="Text 18"/>
          <p:cNvSpPr/>
          <p:nvPr/>
        </p:nvSpPr>
        <p:spPr>
          <a:xfrm>
            <a:off x="8458200" y="251460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2026/04/01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08960" y="3246120"/>
            <a:ext cx="6400800" cy="685800"/>
          </a:xfrm>
          <a:prstGeom prst="rect">
            <a:avLst/>
          </a:prstGeom>
          <a:solidFill>
            <a:srgbClr val="FFF8E1"/>
          </a:solidFill>
          <a:ln w="15240">
            <a:solidFill>
              <a:srgbClr val="D69E2E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/>
            <a:r>
              <a:rPr sz="1600" b="1">
                <a:solidFill>
                  <a:srgbClr val="825A00"/>
                </a:solidFill>
                <a:latin typeface="Yu Gothic"/>
              </a:rPr>
              <a:t>この社員情報を削除します。</a:t>
            </a:r>
          </a:p>
          <a:p>
            <a:pPr algn="ctr"/>
            <a:r>
              <a:rPr sz="1600" b="1">
                <a:solidFill>
                  <a:srgbClr val="825A00"/>
                </a:solidFill>
                <a:latin typeface="Yu Gothic"/>
              </a:rPr>
              <a:t>削除後は元に戻せません。よろしいですか？</a:t>
            </a:r>
          </a:p>
        </p:txBody>
      </p:sp>
      <p:sp>
        <p:nvSpPr>
          <p:cNvPr id="22" name="Text 20"/>
          <p:cNvSpPr/>
          <p:nvPr/>
        </p:nvSpPr>
        <p:spPr>
          <a:xfrm>
            <a:off x="4709160" y="443484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4434840"/>
            <a:ext cx="128016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削除する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 err="1">
                <a:latin typeface="Yu Gothic"/>
              </a:rPr>
              <a:t>部門登録（入力エラ</a:t>
            </a:r>
            <a:r>
              <a:rPr sz="2200" dirty="0">
                <a:latin typeface="Yu Gothic"/>
              </a:rPr>
              <a:t>ー）</a:t>
            </a:r>
          </a:p>
        </p:txBody>
      </p:sp>
      <p:sp>
        <p:nvSpPr>
          <p:cNvPr id="10" name="Text 8"/>
          <p:cNvSpPr/>
          <p:nvPr/>
        </p:nvSpPr>
        <p:spPr>
          <a:xfrm>
            <a:off x="2057400" y="1463040"/>
            <a:ext cx="457200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基本情報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20574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 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276856"/>
            <a:ext cx="3931920" cy="411480"/>
          </a:xfrm>
          <a:prstGeom prst="rect">
            <a:avLst/>
          </a:prstGeom>
          <a:solidFill>
            <a:srgbClr val="FFFFFF"/>
          </a:solidFill>
          <a:ln w="1651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1463040"/>
            <a:ext cx="356616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確認情報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965960"/>
            <a:ext cx="100584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0" y="1965960"/>
            <a:ext cx="2560320" cy="411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278892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登録日時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46720" y="278892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保存時に設定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200400"/>
            <a:ext cx="1005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3200400"/>
            <a:ext cx="2560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611880"/>
            <a:ext cx="100584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3611880"/>
            <a:ext cx="2560320" cy="411480"/>
          </a:xfrm>
          <a:prstGeom prst="rect">
            <a:avLst/>
          </a:prstGeom>
          <a:solidFill>
            <a:srgbClr val="F9F9F9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更新時に設定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800600"/>
            <a:ext cx="1143000" cy="45720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66760" y="4800600"/>
            <a:ext cx="1371600" cy="457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保存する</a:t>
            </a:r>
            <a:endParaRPr lang="en-US" sz="1600" dirty="0"/>
          </a:p>
        </p:txBody>
      </p:sp>
      <p:sp>
        <p:nvSpPr>
          <p:cNvPr id="27" name="Rounded Rectangle 26"/>
          <p:cNvSpPr/>
          <p:nvPr/>
        </p:nvSpPr>
        <p:spPr>
          <a:xfrm>
            <a:off x="2240280" y="4800600"/>
            <a:ext cx="4572000" cy="45720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D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0000" tIns="45000" rIns="110000" bIns="45000" rtlCol="0" anchor="ctr"/>
          <a:lstStyle/>
          <a:p>
            <a:pPr algn="l"/>
            <a:r>
              <a:rPr sz="1200" b="1" dirty="0" err="1">
                <a:solidFill>
                  <a:srgbClr val="B42828"/>
                </a:solidFill>
                <a:latin typeface="Yu Gothic"/>
              </a:rPr>
              <a:t>入力内容に誤りがあります</a:t>
            </a:r>
            <a:r>
              <a:rPr sz="1200" b="1" dirty="0">
                <a:solidFill>
                  <a:srgbClr val="B42828"/>
                </a:solidFill>
                <a:latin typeface="Yu Gothic"/>
              </a:rPr>
              <a:t>。</a:t>
            </a:r>
          </a:p>
          <a:p>
            <a:pPr algn="l"/>
            <a:r>
              <a:rPr sz="1200" b="0" dirty="0" err="1">
                <a:solidFill>
                  <a:srgbClr val="3C3C3C"/>
                </a:solidFill>
                <a:latin typeface="Yu Gothic"/>
              </a:rPr>
              <a:t>部門名を入力してください</a:t>
            </a:r>
            <a:r>
              <a:rPr sz="1200" b="0" dirty="0">
                <a:solidFill>
                  <a:srgbClr val="3C3C3C"/>
                </a:solidFill>
                <a:latin typeface="Yu Gothic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2713056"/>
            <a:ext cx="115416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dirty="0" err="1">
                <a:solidFill>
                  <a:srgbClr val="BE2828"/>
                </a:solidFill>
                <a:latin typeface="Yu Gothic"/>
              </a:rPr>
              <a:t>部門名は必須です</a:t>
            </a:r>
            <a:r>
              <a:rPr sz="1000" dirty="0">
                <a:solidFill>
                  <a:srgbClr val="BE2828"/>
                </a:solidFill>
                <a:latin typeface="Yu Gothic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社員情報管理システム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326880" y="118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太郎さん　｜　ログアウト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502920"/>
            <a:ext cx="1737360" cy="635508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86868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ホーム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" y="1371600"/>
            <a:ext cx="1389888" cy="38404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社員一覧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" y="1874520"/>
            <a:ext cx="1389888" cy="384048"/>
          </a:xfrm>
          <a:prstGeom prst="rect">
            <a:avLst/>
          </a:prstGeom>
          <a:solidFill>
            <a:srgbClr val="D9EAF7"/>
          </a:solidFill>
          <a:ln w="12700">
            <a:solidFill>
              <a:srgbClr val="D9EAF7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部門一覧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57400" y="749808"/>
            <a:ext cx="43053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2200" dirty="0" err="1">
                <a:latin typeface="Yu Gothic"/>
              </a:rPr>
              <a:t>部門削除確認（削除不可エラ</a:t>
            </a:r>
            <a:r>
              <a:rPr sz="2200" dirty="0">
                <a:latin typeface="Yu Gothic"/>
              </a:rPr>
              <a:t>ー）</a:t>
            </a:r>
          </a:p>
        </p:txBody>
      </p:sp>
      <p:sp>
        <p:nvSpPr>
          <p:cNvPr id="10" name="Text 8"/>
          <p:cNvSpPr/>
          <p:nvPr/>
        </p:nvSpPr>
        <p:spPr>
          <a:xfrm>
            <a:off x="2057400" y="1965960"/>
            <a:ext cx="6400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182880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部門名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1965960"/>
            <a:ext cx="137160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所属社員数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97880" y="1965960"/>
            <a:ext cx="15544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1965960"/>
            <a:ext cx="1554480" cy="475488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更新日時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2441448"/>
            <a:ext cx="640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44144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人事部</a:t>
            </a:r>
          </a:p>
        </p:txBody>
      </p:sp>
      <p:sp>
        <p:nvSpPr>
          <p:cNvPr id="17" name="Text 15"/>
          <p:cNvSpPr/>
          <p:nvPr/>
        </p:nvSpPr>
        <p:spPr>
          <a:xfrm>
            <a:off x="4526280" y="2441448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r>
              <a:rPr sz="1600">
                <a:latin typeface="Yu Gothic"/>
              </a:rPr>
              <a:t>12名</a:t>
            </a:r>
          </a:p>
        </p:txBody>
      </p:sp>
      <p:sp>
        <p:nvSpPr>
          <p:cNvPr id="18" name="Text 16"/>
          <p:cNvSpPr/>
          <p:nvPr/>
        </p:nvSpPr>
        <p:spPr>
          <a:xfrm>
            <a:off x="5897880" y="24414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田中 太郎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24414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2026/05/22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3246120"/>
            <a:ext cx="6400800" cy="685800"/>
          </a:xfrm>
          <a:prstGeom prst="rect">
            <a:avLst/>
          </a:prstGeom>
          <a:solidFill>
            <a:srgbClr val="FFEBEE"/>
          </a:solidFill>
          <a:ln w="15240">
            <a:solidFill>
              <a:srgbClr val="D24646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ctr"/>
            <a:r>
              <a:rPr sz="1600" b="1">
                <a:solidFill>
                  <a:srgbClr val="B42828"/>
                </a:solidFill>
                <a:latin typeface="Yu Gothic"/>
              </a:rPr>
              <a:t>所属社員がいる部門は削除できません。</a:t>
            </a:r>
          </a:p>
          <a:p>
            <a:pPr algn="ctr"/>
            <a:r>
              <a:rPr sz="1600" b="1">
                <a:solidFill>
                  <a:srgbClr val="B42828"/>
                </a:solidFill>
                <a:latin typeface="Yu Gothic"/>
              </a:rPr>
              <a:t>社員の所属部門を変更してから削除してください。</a:t>
            </a:r>
          </a:p>
        </p:txBody>
      </p:sp>
      <p:sp>
        <p:nvSpPr>
          <p:cNvPr id="21" name="Text 19"/>
          <p:cNvSpPr/>
          <p:nvPr/>
        </p:nvSpPr>
        <p:spPr>
          <a:xfrm>
            <a:off x="4709160" y="4434840"/>
            <a:ext cx="1280160" cy="50292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キャンセル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4434840"/>
            <a:ext cx="1280160" cy="502920"/>
          </a:xfrm>
          <a:prstGeom prst="rect">
            <a:avLst/>
          </a:prstGeom>
          <a:solidFill>
            <a:srgbClr val="E8F4FF"/>
          </a:solidFill>
          <a:ln w="12700">
            <a:solidFill>
              <a:srgbClr val="5A91C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sz="1600">
                <a:solidFill>
                  <a:srgbClr val="1E5082"/>
                </a:solidFill>
                <a:latin typeface="Yu Gothic"/>
              </a:rPr>
              <a:t>社員一覧へ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663</Words>
  <Application>Microsoft Office PowerPoint</Application>
  <PresentationFormat>ワイド画面</PresentationFormat>
  <Paragraphs>451</Paragraphs>
  <Slides>16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Noto Sans CJK JP</vt:lpstr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社員情報管理システム 画面設計（簡易版）</dc:title>
  <dc:subject>社員情報管理システム 画面設計（簡易版）</dc:subject>
  <dc:creator>OpenAI</dc:creator>
  <cp:lastModifiedBy>安藤 壮吾</cp:lastModifiedBy>
  <cp:revision>3</cp:revision>
  <dcterms:created xsi:type="dcterms:W3CDTF">2026-05-22T01:40:53Z</dcterms:created>
  <dcterms:modified xsi:type="dcterms:W3CDTF">2026-05-22T05:01:24Z</dcterms:modified>
</cp:coreProperties>
</file>